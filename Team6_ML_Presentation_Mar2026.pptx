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C15905-E768-4A48-A36F-C18DC332FE23}">
  <a:tblStyle styleId="{7FC15905-E768-4A48-A36F-C18DC332FE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a4461f1b4_3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da4461f1b4_3_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da4461f1b4_3_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4461f1b4_3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da4461f1b4_3_24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da4461f1b4_3_24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4461f1b4_3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g3da4461f1b4_3_5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da4461f1b4_3_5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a4461f1b4_3_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da4461f1b4_3_8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da4461f1b4_3_8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4461f1b4_3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da4461f1b4_3_9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da4461f1b4_3_9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a4461f1b4_3_1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da4461f1b4_3_110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a4461f1b4_3_110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feac1a8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feac1a8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235f58b34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d235f58b34_0_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235f58b34_0_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4461f1b4_3_1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da4461f1b4_3_15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da4461f1b4_3_15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feac1a8b_0_1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d1feac1a8b_0_107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d1feac1a8b_0_107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4461f1b4_3_2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da4461f1b4_3_23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a4461f1b4_3_23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a4461f1b4_3_2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3da4461f1b4_3_24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da4461f1b4_3_24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Adult Income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Dataset — ML Classification Project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2286000"/>
            <a:ext cx="5486400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Predict whether income exceeds $50K/year based on census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3017520"/>
            <a:ext cx="1554480" cy="347472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57200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148840" y="3017520"/>
            <a:ext cx="1554480" cy="347472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148840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840480" y="3017520"/>
            <a:ext cx="1554480" cy="347472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840480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532120" y="3017520"/>
            <a:ext cx="1554480" cy="347472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532120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7223760" y="3017520"/>
            <a:ext cx="1554480" cy="347472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7223760" y="30175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UCI Adult / Census Income Dataset  •  48,842 records  •  14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Problem Statement &amp; ML Pipeline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28600" y="640080"/>
            <a:ext cx="4023360" cy="42062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20103" y="119787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lang="en" sz="16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20050" y="1682500"/>
            <a:ext cx="38406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0" lIns="1250" spcFirstLastPara="1" rIns="1250" wrap="square" tIns="125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1"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Predict if a person earns &gt;$50K/year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Binary classification: True (&gt;50K) vs False (≤50K)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Dataset: UCI Adult Census Income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48,842 records, 14 raw features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Class imbalance: ~76% ≤50K, ~24% &gt;50K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Goal: Build, compare and select best ML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434840" y="640080"/>
            <a:ext cx="4480560" cy="42062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4526280" y="6858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1" lang="en" sz="16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ML Pipeline Flow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526280" y="1115568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526280" y="11155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937760" y="11155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Initial Exploration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937760" y="129844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head(), info(), describe(), isnull()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526280" y="1682496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526280" y="168249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937760" y="168249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Hypothesis &amp; Stats Tests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937760" y="1865376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Chi-Square, p-values, ANOVA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526280" y="2249424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526280" y="22494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937760" y="22494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937760" y="243230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Missing values, outliers, dtype fixes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526280" y="2816352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526280" y="28163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937760" y="28163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EDA (Uni/Bi/Multivariate)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937760" y="299923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Histograms, </a:t>
            </a: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box plots</a:t>
            </a: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heatmaps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526280" y="3383280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526280" y="3383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937760" y="338328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937760" y="3566160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Encoding, log-transform, grouping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526280" y="3950208"/>
            <a:ext cx="347472" cy="34747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4526280" y="3950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4937760" y="39502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937760" y="413308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XGB, SVM, RF, LR, Gradient Boost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Initial Exploration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228600" y="640080"/>
            <a:ext cx="1920240" cy="91440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228600" y="7315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1" lang="e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48,842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28600" y="1153007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Records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404872" y="640080"/>
            <a:ext cx="1920240" cy="91440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2404872" y="7315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1" lang="e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404872" y="1153007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Raw Features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581144" y="640080"/>
            <a:ext cx="1920240" cy="91440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581144" y="7315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1" lang="e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581144" y="1153007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Null Columns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6757416" y="640080"/>
            <a:ext cx="1920240" cy="91440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757416" y="7315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1" lang="e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76%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757416" y="1153007"/>
            <a:ext cx="192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≤50K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28600" y="1691640"/>
            <a:ext cx="8686800" cy="324612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365760" y="17556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Key Features Overview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7"/>
          <p:cNvGraphicFramePr/>
          <p:nvPr/>
        </p:nvGraphicFramePr>
        <p:xfrm>
          <a:off x="365760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{7FC15905-E768-4A48-A36F-C18DC332FE23}</a:tableStyleId>
              </a:tblPr>
              <a:tblGrid>
                <a:gridCol w="1828800"/>
                <a:gridCol w="1280150"/>
                <a:gridCol w="2286000"/>
                <a:gridCol w="29260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1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1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1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Values / Range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" sz="11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 – 90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Binned: Young/Mid/Senior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workclass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Private, Gov, Self-emp…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Grouped to 4 categories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education-num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– 16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Grouped: Low/Undergrad/Grad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marital-status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values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Grouped: Married / No-spouse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 values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Grouped: White/Blue/Service/Sales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hours-per-week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– 99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Binned into 5 groups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capital-gain/loss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Numerical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Various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Log-transformed to net_capital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income (target)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&gt;50K / ≤50K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50"/>
                        <a:buFont typeface="Calibri"/>
                        <a:buNone/>
                      </a:pPr>
                      <a:r>
                        <a:rPr lang="en" sz="115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Encoded as 1 / 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Hypothesis &amp; Statistical Tests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228600" y="640080"/>
            <a:ext cx="4114800" cy="42519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320040" y="6858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Hypothesis Statements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20040" y="1078992"/>
            <a:ext cx="3931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H₀ (Null):</a:t>
            </a: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No significant relationship between features and income level.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H₁ (Alt):</a:t>
            </a: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Significant relationship exists between features and income.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lang="en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Significance Level:</a:t>
            </a:r>
            <a:r>
              <a:rPr lang="en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α = 0.05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lang="en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Type I Error:</a:t>
            </a:r>
            <a:r>
              <a:rPr lang="en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Rejecting H₀ when it is true (False Positive)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br>
              <a:rPr lang="en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Type II Error:</a:t>
            </a:r>
            <a:r>
              <a:rPr lang="en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Failing to reject H₀ when H₁ is true (False Negative)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526280" y="640080"/>
            <a:ext cx="4389120" cy="42519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617720" y="68580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Chi-Square Test Results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8"/>
          <p:cNvGraphicFramePr/>
          <p:nvPr/>
        </p:nvGraphicFramePr>
        <p:xfrm>
          <a:off x="461772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{7FC15905-E768-4A48-A36F-C18DC332FE23}</a:tableStyleId>
              </a:tblPr>
              <a:tblGrid>
                <a:gridCol w="1920250"/>
                <a:gridCol w="1005850"/>
                <a:gridCol w="1280150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Significant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relationship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14,022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marital-status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12,350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education-num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9,104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7,280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(binned)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6,180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capital-gain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5,942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hours-per-week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3,890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fnlwgt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Dropped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native-country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Dropped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Dropped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28600" y="640080"/>
            <a:ext cx="4297680" cy="2377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320040" y="713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lang="en" sz="16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20050" y="1078999"/>
            <a:ext cx="41148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workclass: 1,836 "?" → replaced with mode (Private)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occupation: 1,843 "?" → replaced with mode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native-country: 583 "?" → replaced with mode (United-States)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Replaced using df[col].mode()[0] strategy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663440" y="640080"/>
            <a:ext cx="4297680" cy="2377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754880" y="713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lang="en" sz="16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Outlier Detection &amp; Treatment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754875" y="1078999"/>
            <a:ext cx="41148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IQR method applied to numerical features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Z-score checked for age, hours-per-week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capital-gain/loss: highly skewed → log1p transform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Extreme hours (&gt;80/week): retained as valid data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28600" y="2606040"/>
            <a:ext cx="4297680" cy="2377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20040" y="26791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lang="en" sz="16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Type Corrections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20050" y="3044950"/>
            <a:ext cx="41148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 column: stripped trailing "." (e.g. "&gt;50K.")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income_binary: encoded 0/1 for numeric operations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Bool dummy columns converted to int after get_dummies()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Category dtype verified for binned features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4663440" y="2606040"/>
            <a:ext cx="4297680" cy="23774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4754880" y="26791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lang="en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Dropped Features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754875" y="3044950"/>
            <a:ext cx="41148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fnlwgt → low Chi² (210), not predictive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native-country → low Chi², high cardinality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race → low Chi² and limited variance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age, education-num, education → replaced by engineered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EDA — Univariate &amp; Bivariate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28600" y="640075"/>
            <a:ext cx="2700000" cy="435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38200" y="931325"/>
            <a:ext cx="269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Univariate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20050" y="1501025"/>
            <a:ext cx="24966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1"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Age: Right-skewed distribution; peak 30–45 years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Hours/week: Most work 40 hrs (full-time spike)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Education-num: Bimodal — 9 (HS) and 13 (Bachelors)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Capital-gain/loss: Highly skewed → log-transformed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Income: Imbalanced — 76% ≤50K, 24% &gt;50K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Workclass: Private dominates (~75% of data)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Occupation: White collar &amp; Blue-collar largest groups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Sex: ~67% Male, ~33% Female</a:t>
            </a:r>
            <a:endParaRPr/>
          </a:p>
          <a:p>
            <a:pPr indent="-2603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3525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1">
              <a:solidFill>
                <a:srgbClr val="06B6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144180" y="640075"/>
            <a:ext cx="2769900" cy="435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174200" y="931313"/>
            <a:ext cx="276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Multi</a:t>
            </a:r>
            <a:r>
              <a:rPr b="1" lang="en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variate Analysis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184050" y="1363500"/>
            <a:ext cx="2560500" cy="26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Heatmap: education × occupation × income interaction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Pair plots: age, hours, capital-gain vs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Married + White Collar + Graduate = highest &gt;50K rate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PCA used to verify feature redundancy before dropping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141236" y="640075"/>
            <a:ext cx="2690400" cy="43587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206175" y="1363425"/>
            <a:ext cx="2560500" cy="3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1"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Married individuals earn &gt;50K significantly more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White-collar jobs strongly associated with &gt;50K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Graduate-level education → higher income probability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Age 36–55: highest proportion of &gt;50K earners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Males show higher &gt;50K rate than females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Pearson corr: education-num vs income: +0.34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Hours/week vs income: moderate positive correlation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Capital gain: strongest numeric predictor of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206195" y="931325"/>
            <a:ext cx="269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Bivariate Analysis</a:t>
            </a:r>
            <a:endParaRPr b="1">
              <a:solidFill>
                <a:srgbClr val="06B6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365760" y="54864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" sz="1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Confusion Matrix and Metrics 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99054" y="672025"/>
            <a:ext cx="4709400" cy="3959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a 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Confusion matrix 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table which shows the every prediction the model made into 4 categories  showing exactly where it was right and where it went wrong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perfect confusion matrix looks like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4985512" y="1179576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0" y="4663440"/>
            <a:ext cx="9144000" cy="48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45720" y="4599432"/>
            <a:ext cx="877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Accuracy-Precision-Recall-F1 Score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911075" y="672025"/>
            <a:ext cx="4132800" cy="3895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Accuracy?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 of all predictions made,how many did the model get right.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Accuracy=(TP + TN )/ (TP + TN + FP + FN 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=correct Predictions / Total Predictions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Precision?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"Of all the people the model predicted as &gt;50K, how many actually were?"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Precision = TP / (TP + FP)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Recall?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 Of all the people who </a:t>
            </a: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actually</a:t>
            </a: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earn &gt;50K,how many did the model find.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Recall=TP/(TP+FN)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F1-Score?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“A single balanced score combining both precision and Recall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F1=2*(Precision*Recall)/(Precision+Recall)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88" y="1526975"/>
            <a:ext cx="4472125" cy="1180578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</p:pic>
      <p:pic>
        <p:nvPicPr>
          <p:cNvPr id="198" name="Google Shape;19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700" y="3129425"/>
            <a:ext cx="4300826" cy="135155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Model Results — All Models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28600" y="640080"/>
            <a:ext cx="5029200" cy="42519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320040" y="6858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Accuracy Comparison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320040" y="1078992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lang="en" sz="11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n" sz="11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GBoost</a:t>
            </a:r>
            <a:endParaRPr sz="115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20040" y="1371600"/>
            <a:ext cx="4206240" cy="274320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320050" y="1371600"/>
            <a:ext cx="3706800" cy="2742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4594837" y="2121438"/>
            <a:ext cx="7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86.11%</a:t>
            </a:r>
            <a:endParaRPr sz="1100">
              <a:solidFill>
                <a:srgbClr val="70A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320046" y="1828800"/>
            <a:ext cx="258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lang="en" sz="115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115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320040" y="2121408"/>
            <a:ext cx="4206240" cy="274320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320050" y="2121400"/>
            <a:ext cx="3669600" cy="274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4617700" y="2871271"/>
            <a:ext cx="7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85.16%</a:t>
            </a:r>
            <a:endParaRPr sz="1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20040" y="3315533"/>
            <a:ext cx="466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sz="115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320040" y="2871216"/>
            <a:ext cx="4206240" cy="274320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4594837" y="4370891"/>
            <a:ext cx="7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83.77%</a:t>
            </a:r>
            <a:endParaRPr sz="1100">
              <a:solidFill>
                <a:srgbClr val="FFE5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20040" y="2578666"/>
            <a:ext cx="466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" sz="115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15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20040" y="3621024"/>
            <a:ext cx="4206240" cy="274320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320040" y="3621024"/>
            <a:ext cx="3562265" cy="27432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4594837" y="1371687"/>
            <a:ext cx="7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86.22%</a:t>
            </a:r>
            <a:endParaRPr sz="11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20078" y="4078224"/>
            <a:ext cx="466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" sz="1150">
                <a:solidFill>
                  <a:srgbClr val="FFE599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150">
              <a:solidFill>
                <a:srgbClr val="FFE5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320040" y="4370832"/>
            <a:ext cx="4206240" cy="274320"/>
          </a:xfrm>
          <a:prstGeom prst="rect">
            <a:avLst/>
          </a:prstGeom>
          <a:solidFill>
            <a:srgbClr val="0D2B4E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320040" y="4370832"/>
            <a:ext cx="3543337" cy="27432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4594825" y="3621082"/>
            <a:ext cx="77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85.09%</a:t>
            </a:r>
            <a:endParaRPr sz="11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440680" y="640080"/>
            <a:ext cx="3474720" cy="42519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486400" y="6858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Income </a:t>
            </a:r>
            <a:r>
              <a:rPr b="1" lang="en" sz="125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Class (&gt;50K) Metrics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3"/>
          <p:cNvGraphicFramePr/>
          <p:nvPr/>
        </p:nvGraphicFramePr>
        <p:xfrm>
          <a:off x="5486400" y="107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{7FC15905-E768-4A48-A36F-C18DC332FE23}</a:tableStyleId>
              </a:tblPr>
              <a:tblGrid>
                <a:gridCol w="1371600"/>
                <a:gridCol w="640075"/>
                <a:gridCol w="640075"/>
                <a:gridCol w="640075"/>
              </a:tblGrid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" sz="1050" u="none" cap="none" strike="noStrike">
                          <a:solidFill>
                            <a:srgbClr val="F8FAF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r>
                        <a:rPr lang="en" sz="105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050"/>
                        <a:buFont typeface="Calibri"/>
                        <a:buNone/>
                      </a:pPr>
                      <a:r>
                        <a:rPr lang="en" sz="105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 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5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Log. Regression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BD5E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r>
                        <a:rPr lang="en" sz="1100">
                          <a:solidFill>
                            <a:srgbClr val="CBD5E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497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3"/>
          <p:cNvSpPr/>
          <p:nvPr/>
        </p:nvSpPr>
        <p:spPr>
          <a:xfrm>
            <a:off x="320050" y="2871225"/>
            <a:ext cx="3610200" cy="2742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365760" y="54864"/>
            <a:ext cx="841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Model Evaluation and Performance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99060" y="640080"/>
            <a:ext cx="8549700" cy="3959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320040" y="68580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4985512" y="1179576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0" y="4663440"/>
            <a:ext cx="9144000" cy="48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45720" y="4599432"/>
            <a:ext cx="8778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Gradient Boosting and XGBoost are best models  •  Accuracy: 86.22%  •  ROC-AUC: 0.9145  •  Dataset: UCI Adult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750" y="745875"/>
            <a:ext cx="3785000" cy="3713313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</p:pic>
      <p:pic>
        <p:nvPicPr>
          <p:cNvPr id="244" name="Google Shape;2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325" y="745875"/>
            <a:ext cx="4206301" cy="3713325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1"/>
                </a:solidFill>
              </a:rPr>
              <a:t>What is a ROC-AUC Curve?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99060" y="640080"/>
            <a:ext cx="8549640" cy="39593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320050" y="685800"/>
            <a:ext cx="39318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ROC</a:t>
            </a:r>
            <a:r>
              <a:rPr lang="en" sz="1100">
                <a:solidFill>
                  <a:schemeClr val="lt1"/>
                </a:solidFill>
              </a:rPr>
              <a:t> stands for </a:t>
            </a:r>
            <a:r>
              <a:rPr b="1" lang="en" sz="1100">
                <a:solidFill>
                  <a:schemeClr val="lt1"/>
                </a:solidFill>
              </a:rPr>
              <a:t>Receiver Operating Characteristic</a:t>
            </a:r>
            <a:r>
              <a:rPr lang="en" sz="1100">
                <a:solidFill>
                  <a:schemeClr val="lt1"/>
                </a:solidFill>
              </a:rPr>
              <a:t>. It's a graph that shows how well a classification model distinguishes between two classes across all possible decision thresholds.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20039" y="1056132"/>
            <a:ext cx="3838449" cy="3607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4985512" y="117957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45720" y="4599432"/>
            <a:ext cx="8778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XGBoost and </a:t>
            </a:r>
            <a:r>
              <a:rPr b="1" i="0" lang="en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Gradient Boosting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are </a:t>
            </a:r>
            <a:r>
              <a:rPr b="1" i="0" lang="en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best model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•  Accuracy: 86.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i="0" lang="en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%  •  ROC-AUC: 0.914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12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 •  Dataset: UCI Adult Income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800" y="728450"/>
            <a:ext cx="4206249" cy="37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50" y="2099075"/>
            <a:ext cx="3766474" cy="20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365760" y="54864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Final Summary &amp; Conclusion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99054" y="640075"/>
            <a:ext cx="4709400" cy="39594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320040" y="6858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lang="en" sz="14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320050" y="1056125"/>
            <a:ext cx="3989700" cy="31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b="1"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All models achieve 84–86% accuracy on the adult dataset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Class imbalance (76%/24%) affects minority class recall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XGBoost and </a:t>
            </a: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Gradient Boosting: best models with 86.22% and 86.11% accuracy &amp; 0.91 AUC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Marital status is the #1 predictor of income class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Capital gains &amp; occupation are top numerical predictors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Education and age group strongly influence income level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Dropped: fnlwgt, race, native-country (low Chi² signal)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Char char="•"/>
            </a:pPr>
            <a:r>
              <a:rPr lang="en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Log-transform of capital features reduced skewness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4985512" y="117957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45720" y="4599432"/>
            <a:ext cx="8778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and Gradient Boosting </a:t>
            </a:r>
            <a:r>
              <a:rPr b="1" lang="en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are best models  •  Accuracy: 86.22%  •  ROC-AUC: 0.9145  •  Dataset: UCI Adult Income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4866400" y="635450"/>
            <a:ext cx="4132800" cy="3895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5575250" y="2195913"/>
            <a:ext cx="295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400" y="635450"/>
            <a:ext cx="4132800" cy="3895499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497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